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440DA-F981-4356-AD7E-8DE2910D7C53}" v="5" dt="2026-02-04T17:52:27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Nagel" userId="7dedc618e2aa6ce6" providerId="LiveId" clId="{9ECCC3C5-1F9C-40AE-8D6E-A626AAE8C160}"/>
    <pc:docChg chg="custSel modSld">
      <pc:chgData name="Joe Nagel" userId="7dedc618e2aa6ce6" providerId="LiveId" clId="{9ECCC3C5-1F9C-40AE-8D6E-A626AAE8C160}" dt="2026-02-04T17:53:46.737" v="184" actId="255"/>
      <pc:docMkLst>
        <pc:docMk/>
      </pc:docMkLst>
      <pc:sldChg chg="addSp delSp modSp mod">
        <pc:chgData name="Joe Nagel" userId="7dedc618e2aa6ce6" providerId="LiveId" clId="{9ECCC3C5-1F9C-40AE-8D6E-A626AAE8C160}" dt="2026-02-04T17:19:34.411" v="66" actId="1076"/>
        <pc:sldMkLst>
          <pc:docMk/>
          <pc:sldMk cId="25113018" sldId="258"/>
        </pc:sldMkLst>
        <pc:spChg chg="mod">
          <ac:chgData name="Joe Nagel" userId="7dedc618e2aa6ce6" providerId="LiveId" clId="{9ECCC3C5-1F9C-40AE-8D6E-A626AAE8C160}" dt="2026-02-04T17:19:29.906" v="65" actId="20577"/>
          <ac:spMkLst>
            <pc:docMk/>
            <pc:sldMk cId="25113018" sldId="258"/>
            <ac:spMk id="3" creationId="{A4CEC750-A8D1-9F91-D7A6-9E0E88E3D906}"/>
          </ac:spMkLst>
        </pc:spChg>
        <pc:grpChg chg="del">
          <ac:chgData name="Joe Nagel" userId="7dedc618e2aa6ce6" providerId="LiveId" clId="{9ECCC3C5-1F9C-40AE-8D6E-A626AAE8C160}" dt="2026-02-04T17:18:42.461" v="0" actId="478"/>
          <ac:grpSpMkLst>
            <pc:docMk/>
            <pc:sldMk cId="25113018" sldId="258"/>
            <ac:grpSpMk id="8" creationId="{4269E772-7FA7-F179-C534-A1B8D43CF05D}"/>
          </ac:grpSpMkLst>
        </pc:grpChg>
        <pc:picChg chg="add mod">
          <ac:chgData name="Joe Nagel" userId="7dedc618e2aa6ce6" providerId="LiveId" clId="{9ECCC3C5-1F9C-40AE-8D6E-A626AAE8C160}" dt="2026-02-04T17:19:34.411" v="66" actId="1076"/>
          <ac:picMkLst>
            <pc:docMk/>
            <pc:sldMk cId="25113018" sldId="258"/>
            <ac:picMk id="10" creationId="{E4936EC5-7802-0768-3537-7822D3FC465E}"/>
          </ac:picMkLst>
        </pc:picChg>
      </pc:sldChg>
      <pc:sldChg chg="modSp mod">
        <pc:chgData name="Joe Nagel" userId="7dedc618e2aa6ce6" providerId="LiveId" clId="{9ECCC3C5-1F9C-40AE-8D6E-A626AAE8C160}" dt="2026-02-04T17:51:16.100" v="132" actId="27636"/>
        <pc:sldMkLst>
          <pc:docMk/>
          <pc:sldMk cId="2686114532" sldId="260"/>
        </pc:sldMkLst>
        <pc:spChg chg="mod">
          <ac:chgData name="Joe Nagel" userId="7dedc618e2aa6ce6" providerId="LiveId" clId="{9ECCC3C5-1F9C-40AE-8D6E-A626AAE8C160}" dt="2026-02-04T17:51:16.100" v="132" actId="27636"/>
          <ac:spMkLst>
            <pc:docMk/>
            <pc:sldMk cId="2686114532" sldId="260"/>
            <ac:spMk id="3" creationId="{B236F421-EFFF-DBDF-901F-5E305552BAEE}"/>
          </ac:spMkLst>
        </pc:spChg>
      </pc:sldChg>
      <pc:sldChg chg="modSp mod">
        <pc:chgData name="Joe Nagel" userId="7dedc618e2aa6ce6" providerId="LiveId" clId="{9ECCC3C5-1F9C-40AE-8D6E-A626AAE8C160}" dt="2026-02-04T17:53:46.737" v="184" actId="255"/>
        <pc:sldMkLst>
          <pc:docMk/>
          <pc:sldMk cId="423347157" sldId="261"/>
        </pc:sldMkLst>
        <pc:spChg chg="mod">
          <ac:chgData name="Joe Nagel" userId="7dedc618e2aa6ce6" providerId="LiveId" clId="{9ECCC3C5-1F9C-40AE-8D6E-A626AAE8C160}" dt="2026-02-04T17:53:46.737" v="184" actId="255"/>
          <ac:spMkLst>
            <pc:docMk/>
            <pc:sldMk cId="423347157" sldId="261"/>
            <ac:spMk id="3" creationId="{AB8CFF99-1BAD-C029-F3A0-D68B0F26B493}"/>
          </ac:spMkLst>
        </pc:spChg>
      </pc:sldChg>
      <pc:sldChg chg="modSp mod">
        <pc:chgData name="Joe Nagel" userId="7dedc618e2aa6ce6" providerId="LiveId" clId="{9ECCC3C5-1F9C-40AE-8D6E-A626AAE8C160}" dt="2026-02-04T17:48:16.373" v="123" actId="20577"/>
        <pc:sldMkLst>
          <pc:docMk/>
          <pc:sldMk cId="3047217674" sldId="262"/>
        </pc:sldMkLst>
        <pc:spChg chg="mod">
          <ac:chgData name="Joe Nagel" userId="7dedc618e2aa6ce6" providerId="LiveId" clId="{9ECCC3C5-1F9C-40AE-8D6E-A626AAE8C160}" dt="2026-02-04T17:48:16.373" v="123" actId="20577"/>
          <ac:spMkLst>
            <pc:docMk/>
            <pc:sldMk cId="3047217674" sldId="262"/>
            <ac:spMk id="3" creationId="{CA7BD3A7-89A9-3E76-E581-B8712E3D1D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37CE6-89CC-4B26-BF23-83552D005AE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4A30F-841D-4919-B9D3-042B46085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4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4A30F-841D-4919-B9D3-042B460858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60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E3F4-A90B-58FF-B521-1CDED8943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06EC1-491A-DDCD-BA6D-EFD401F7B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F774-AAAA-14FB-D0D9-89DE0E4D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4D5C-87E6-B9A7-ED14-52B68BFD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3BF7-238F-3A88-ED32-3A04D3C8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5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FBB0-11D9-CAD3-8DF7-D211FD4A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70322-98FE-8DC1-92FA-9D34D6E2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0B6F-F95C-146E-56B2-E3D3CEBD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1A079-CCEE-667A-7FCF-180C4C15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6B24-0DC5-9EEA-8A5C-B15DDB30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C347-D7DE-248A-0757-93B393ED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3DD30-F8D7-7378-FC74-1BB7B7EE7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3032-4343-5776-1942-4AC0F52A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412E-D814-BD80-AFE1-D63BB3E7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FBD3-5445-9D72-C6E4-37E9B2AE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CA7-A449-7B1A-6180-8901C410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7499F-0667-9811-D403-D1A4F4F26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8E53D-354B-A472-E7ED-BDD07302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2C8F3-3224-831C-A2F1-47CA97BF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EFD1-9D36-023B-31E5-6D7F7DC2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98035-E99C-B489-ED83-F54341E7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0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C3CC-1319-370C-BA48-F598C944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962F0-FCDD-E1A2-6A6B-EE87B8721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FD315-7668-8B4C-FC2A-A457B1FD5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A46E7-CBF9-8901-7114-17B6B00F2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96CB6-8E5C-2F0D-EB81-CBBFE8F72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A6C0B-35F7-17F6-CD09-571125BE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E598B-F8B9-4E13-628B-BFEE760E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82D4A-D669-0381-F343-42C08D8D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BF38-9362-39EC-1D45-798BB980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29DA0-D999-2776-BFE5-D466CF72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11A34-DE46-D3A1-E815-3043C8D8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2D481-E2D4-B451-566C-6B773403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8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BEDA8-2920-A89B-7EFD-2987F97A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3041B-3558-B453-646C-9354F831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56963-1095-D7DE-1F0A-4FAFFC60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4B8D-8026-C3F8-B7C7-D91917F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C21D-8AA7-B98F-3143-3908B41D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389D6-9385-E7F4-8D77-D6C473722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C2CA9-939F-076F-2210-0DCFEC53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5A8C9-19E5-6820-3043-EF86A6A2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1D4FC-4C34-F5DC-48A8-94BD386C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1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4B7-6608-07CB-1193-DC8404C2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3D966-134C-8EA0-A551-FE0CE0CBD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2FC96-C503-F71F-BDA7-D792CF689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DB6B-7067-137A-B1BA-9B47274C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883C6-987F-6B03-4B37-71AF0536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F970A-EE0F-BE8C-9374-CD7B77CA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3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C5F1-7375-09F6-8761-37BD70C5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DF041-7982-5869-B6AB-99B7D615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94E1E-CA5D-AB1C-3029-43FB3A0C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80019-639A-CDFD-3723-64CE315C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D21B-4857-8769-4D8D-7ECBB04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0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4ED9E-5D05-3DBB-C2A2-C0D9D416A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6A84-0B18-8A9D-9EA9-B4278520A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5EAB-B0F8-6457-4432-8194E7E4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D9CF9-BE98-7F59-DCB6-3974828D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AA0A-D7A3-BA1E-9745-058B2F81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4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81E64-1341-F401-BAA6-45CA3F37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E9088-917C-EBFB-53A2-5FEBCADA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1D53-578E-6198-24DA-DBA2ED505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4432C-A2F8-4335-967E-A9297080D7C3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A3E3E-AFC5-5FC4-837C-68DFC45CC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38-4A55-F25B-125B-6CB417DE1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0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B127-8449-56A9-A7CA-132105EDD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Evaluation of At-Home Sample Timing for Diurnal Hormone Level Characterization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2F472-0292-8F4F-48DD-A32A01AAB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Joe Nagel</a:t>
            </a:r>
          </a:p>
          <a:p>
            <a:r>
              <a:rPr lang="en-US" dirty="0"/>
              <a:t>2/4/2026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AA591B-C3CA-00CE-75FE-14B3DDD86E22}"/>
              </a:ext>
            </a:extLst>
          </p:cNvPr>
          <p:cNvGrpSpPr/>
          <p:nvPr/>
        </p:nvGrpSpPr>
        <p:grpSpPr>
          <a:xfrm>
            <a:off x="448056" y="356616"/>
            <a:ext cx="3995928" cy="5193792"/>
            <a:chOff x="448056" y="374904"/>
            <a:chExt cx="3995928" cy="51937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D8A6E0-3DE7-8808-F6A3-2FA1CF37FFDE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EFC30E-B068-B002-55AC-80BC2C645795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BB206C-DD4E-4B59-E75E-55EF4946A891}"/>
              </a:ext>
            </a:extLst>
          </p:cNvPr>
          <p:cNvGrpSpPr/>
          <p:nvPr/>
        </p:nvGrpSpPr>
        <p:grpSpPr>
          <a:xfrm rot="10800000">
            <a:off x="7748016" y="1294766"/>
            <a:ext cx="3995928" cy="5193792"/>
            <a:chOff x="448056" y="374904"/>
            <a:chExt cx="3995928" cy="51937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DB6609-B7DA-A10A-82AF-B725113DF613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95E15C-B2BC-0564-D101-CF81948FA053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746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54C98-5D8F-5000-840D-0A5BD4DD7765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3E58C-02D0-4D5D-E52A-CDABC794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Research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7E463-4176-F396-06CC-B97788F811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Measurement Method Agreement</a:t>
                </a:r>
              </a:p>
              <a:p>
                <a:pPr lvl="1"/>
                <a:r>
                  <a:rPr lang="en-US" dirty="0"/>
                  <a:t>Is there significant additive or proportional bias between the booklet and MEMS measuring cap sample times?</a:t>
                </a:r>
              </a:p>
              <a:p>
                <a:r>
                  <a:rPr lang="en-US" b="1" dirty="0"/>
                  <a:t>Sample Timing Adherence</a:t>
                </a:r>
              </a:p>
              <a:p>
                <a:pPr lvl="1"/>
                <a:r>
                  <a:rPr lang="en-US" dirty="0"/>
                  <a:t>What proportion of samples fell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±7.5</m:t>
                    </m:r>
                  </m:oMath>
                </a14:m>
                <a:r>
                  <a:rPr lang="en-US" dirty="0"/>
                  <a:t> minutes (good)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±15</m:t>
                    </m:r>
                  </m:oMath>
                </a14:m>
                <a:r>
                  <a:rPr lang="en-US" dirty="0"/>
                  <a:t> minutes (adequate) of the target times for the 30-min and 10-hour post-waking collections?</a:t>
                </a:r>
              </a:p>
              <a:p>
                <a:r>
                  <a:rPr lang="en-US" b="1" dirty="0"/>
                  <a:t>Diurnal Hormone Patterns</a:t>
                </a:r>
              </a:p>
              <a:p>
                <a:pPr lvl="1"/>
                <a:r>
                  <a:rPr lang="en-US" dirty="0"/>
                  <a:t>What is the change in hormone levels from waking to 30 minutes post waking?</a:t>
                </a:r>
              </a:p>
              <a:p>
                <a:pPr lvl="1"/>
                <a:r>
                  <a:rPr lang="en-US" dirty="0"/>
                  <a:t>What is the change per hour in hormone levels after 30 minutes post waking?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7E463-4176-F396-06CC-B97788F81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825625"/>
                <a:ext cx="10515600" cy="4351338"/>
              </a:xfrm>
              <a:blipFill>
                <a:blip r:embed="rId2"/>
                <a:stretch>
                  <a:fillRect l="-1043" t="-308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20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9289A-5771-95DB-A6B5-99BC9137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E334AC-0AF1-0539-2973-F7898FB1412E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BDC4D-F599-9B2F-E39C-D8592800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EC750-A8D1-9F91-D7A6-9E0E88E3D9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31 Subjects</a:t>
                </a:r>
              </a:p>
              <a:p>
                <a:pPr lvl="1"/>
                <a:r>
                  <a:rPr lang="en-US" dirty="0"/>
                  <a:t>3 Days of Samples</a:t>
                </a:r>
              </a:p>
              <a:p>
                <a:pPr lvl="1"/>
                <a:r>
                  <a:rPr lang="en-US" dirty="0"/>
                  <a:t>4 Samples/Day</a:t>
                </a:r>
              </a:p>
              <a:p>
                <a:r>
                  <a:rPr lang="en-US" dirty="0"/>
                  <a:t>Exclusions</a:t>
                </a:r>
              </a:p>
              <a:p>
                <a:pPr lvl="1"/>
                <a:r>
                  <a:rPr lang="en-US" dirty="0"/>
                  <a:t>Cortisol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≥80</m:t>
                    </m:r>
                  </m:oMath>
                </a14:m>
                <a:r>
                  <a:rPr lang="en-US" dirty="0"/>
                  <a:t> nmol/L</a:t>
                </a:r>
              </a:p>
              <a:p>
                <a:pPr lvl="1"/>
                <a:r>
                  <a:rPr lang="en-US" dirty="0"/>
                  <a:t>DHEA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5.205 nmol/L</a:t>
                </a:r>
              </a:p>
              <a:p>
                <a:pPr lvl="1"/>
                <a:r>
                  <a:rPr lang="en-US" dirty="0"/>
                  <a:t>Subject 3037 removed</a:t>
                </a:r>
              </a:p>
              <a:p>
                <a:pPr lvl="2"/>
                <a:r>
                  <a:rPr lang="en-US" dirty="0"/>
                  <a:t>Multiple high DHEA readings</a:t>
                </a:r>
              </a:p>
              <a:p>
                <a:r>
                  <a:rPr lang="en-US" dirty="0"/>
                  <a:t>Missingness</a:t>
                </a:r>
              </a:p>
              <a:p>
                <a:pPr lvl="1"/>
                <a:r>
                  <a:rPr lang="en-US" dirty="0"/>
                  <a:t>Booklet Times (9.4%)</a:t>
                </a:r>
              </a:p>
              <a:p>
                <a:pPr lvl="1"/>
                <a:r>
                  <a:rPr lang="en-US" dirty="0"/>
                  <a:t>MEMS Times (16.4%)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CEC750-A8D1-9F91-D7A6-9E0E88E3D9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825625"/>
                <a:ext cx="10515600" cy="4351338"/>
              </a:xfrm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4936EC5-7802-0768-3537-7822D3FC4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212" y="2008498"/>
            <a:ext cx="5987088" cy="398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CD82A-6B15-D3E5-8E3F-CFF347F8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5319D8-E572-8B2A-1B13-3466A620231A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17895-CA06-72EE-2C36-22FC9693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Analysis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3F0CC-FFFC-34B3-F3B7-B973DF172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1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Agreement Model</a:t>
            </a:r>
          </a:p>
          <a:p>
            <a:pPr lvl="1"/>
            <a:r>
              <a:rPr lang="en-US" dirty="0"/>
              <a:t>Linear Mixed-Effect Model</a:t>
            </a:r>
          </a:p>
          <a:p>
            <a:pPr lvl="1"/>
            <a:r>
              <a:rPr lang="en-US" dirty="0"/>
              <a:t>MEMS Cap Time by Booklet Time</a:t>
            </a:r>
          </a:p>
          <a:p>
            <a:pPr lvl="1"/>
            <a:r>
              <a:rPr lang="en-US" dirty="0"/>
              <a:t>Tests</a:t>
            </a:r>
          </a:p>
          <a:p>
            <a:pPr lvl="2"/>
            <a:r>
              <a:rPr lang="en-US" dirty="0"/>
              <a:t>Intercept = 0</a:t>
            </a:r>
          </a:p>
          <a:p>
            <a:pPr lvl="2"/>
            <a:r>
              <a:rPr lang="en-US" dirty="0"/>
              <a:t>Slope = 1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Diurnal Hormone Pattern Models</a:t>
            </a:r>
          </a:p>
          <a:p>
            <a:pPr lvl="1"/>
            <a:r>
              <a:rPr lang="en-US" dirty="0"/>
              <a:t>Piecewise Linear Mixed Effect Model</a:t>
            </a:r>
          </a:p>
          <a:p>
            <a:pPr lvl="1"/>
            <a:r>
              <a:rPr lang="en-US" dirty="0"/>
              <a:t>Break at 30 Minutes</a:t>
            </a:r>
          </a:p>
          <a:p>
            <a:pPr lvl="1"/>
            <a:r>
              <a:rPr lang="en-US" dirty="0"/>
              <a:t>Log Hormones by Booklet Time</a:t>
            </a:r>
          </a:p>
          <a:p>
            <a:pPr lvl="1"/>
            <a:r>
              <a:rPr lang="en-US" dirty="0"/>
              <a:t>Tests</a:t>
            </a:r>
          </a:p>
          <a:p>
            <a:pPr lvl="2"/>
            <a:r>
              <a:rPr lang="en-US" dirty="0"/>
              <a:t>Wake – 30 min Change</a:t>
            </a:r>
          </a:p>
          <a:p>
            <a:pPr lvl="2"/>
            <a:r>
              <a:rPr lang="en-US" dirty="0"/>
              <a:t>After 30 min Change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9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8C344-0BF2-7B91-2CF5-EAB1FF5B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EB5A67-A856-4ED3-F854-071F7D7045EB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B4613-B155-D45F-EFD6-81D9483F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36F421-EFFF-DBDF-901F-5E305552B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555586"/>
                <a:ext cx="5261315" cy="508637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:r>
                  <a:rPr lang="en-US" sz="3600" dirty="0"/>
                  <a:t>Agreement</a:t>
                </a:r>
              </a:p>
              <a:p>
                <a:r>
                  <a:rPr lang="en-US" dirty="0"/>
                  <a:t>MEMS Cap times were 10 minutes later than Booklet times at wake (p-value &lt; 0.001; 95% CI: 4, 16).</a:t>
                </a:r>
              </a:p>
              <a:p>
                <a:r>
                  <a:rPr lang="en-US" dirty="0"/>
                  <a:t>Bias does not change significantly with time (p-value = 0.2).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sz="3600" dirty="0"/>
                  <a:t>Adherence</a:t>
                </a:r>
                <a:endParaRPr lang="en-US" dirty="0"/>
              </a:p>
              <a:p>
                <a:r>
                  <a:rPr lang="en-US" dirty="0"/>
                  <a:t>Higher adherence for booklet times than MEMS times.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±7.5</m:t>
                    </m:r>
                  </m:oMath>
                </a14:m>
                <a:r>
                  <a:rPr lang="en-US" dirty="0"/>
                  <a:t> – 21.1% higher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±15</m:t>
                    </m:r>
                  </m:oMath>
                </a14:m>
                <a:r>
                  <a:rPr lang="en-US" dirty="0"/>
                  <a:t> – 19.5% higher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36F421-EFFF-DBDF-901F-5E305552B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555586"/>
                <a:ext cx="5261315" cy="5086376"/>
              </a:xfrm>
              <a:blipFill>
                <a:blip r:embed="rId2"/>
                <a:stretch>
                  <a:fillRect l="-1738" t="-3353" r="-3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B414684-774D-9D3B-3DB6-D8775959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871" y="4851332"/>
            <a:ext cx="5197623" cy="1483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78B2B9-9C28-658F-6530-35009A658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632" y="444977"/>
            <a:ext cx="5171862" cy="38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14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80C05-6BA6-34E7-9F2B-CDD33927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DBA4AB-ED8E-7727-0FB3-2F899BFB90A0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61302-F28B-3CD1-A3BD-174157504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CFF99-1BAD-C029-F3A0-D68B0F26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200" y="1603582"/>
            <a:ext cx="5378781" cy="471591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600" dirty="0"/>
              <a:t>Cortisol</a:t>
            </a:r>
          </a:p>
          <a:p>
            <a:r>
              <a:rPr lang="en-US" sz="2200" dirty="0"/>
              <a:t>From wake to 30 minutes, cortisol increased 20% on average (p-value = 0.09; 95% CI: -3, 59). </a:t>
            </a:r>
            <a:r>
              <a:rPr lang="en-US" sz="2200" b="1" dirty="0"/>
              <a:t>Not Significant</a:t>
            </a:r>
          </a:p>
          <a:p>
            <a:r>
              <a:rPr lang="en-US" sz="2200" dirty="0"/>
              <a:t>After 30 minutes post waking, cortisol decreased 13% per hour on average (p-value &lt; 0.001; 95% CI: 11, 14) .</a:t>
            </a:r>
          </a:p>
          <a:p>
            <a:endParaRPr lang="en-US" sz="1800" dirty="0"/>
          </a:p>
          <a:p>
            <a:pPr marL="0" indent="0" algn="ctr">
              <a:buNone/>
            </a:pPr>
            <a:r>
              <a:rPr lang="en-US" sz="3600" dirty="0"/>
              <a:t>DHEA</a:t>
            </a:r>
          </a:p>
          <a:p>
            <a:r>
              <a:rPr lang="en-US" sz="2200" dirty="0"/>
              <a:t>From wake to 30 minutes, DHEA decreased 41% on average (p-value &lt; 0.001; 95% CI: 30, 51).</a:t>
            </a:r>
          </a:p>
          <a:p>
            <a:r>
              <a:rPr lang="en-US" sz="2200" dirty="0"/>
              <a:t>After 30 minutes post waking, DHEA decreased 9% per hour on average (p-value &lt; 0.001; 95% CI: 7, 10).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B18071-5363-DA14-CB25-56E20F55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981" y="1802365"/>
            <a:ext cx="5544324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7F70C-D5E9-E942-2654-54C1A4B9C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223B2F-2F19-B9CB-0A6D-5B51E7EBB679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80E43-C6F5-C0BA-FD81-481CED88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Discussion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BD3A7-89A9-3E76-E581-B8712E3D1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1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Booklet MEMS Agreement</a:t>
            </a:r>
          </a:p>
          <a:p>
            <a:pPr lvl="1"/>
            <a:r>
              <a:rPr lang="en-US" dirty="0"/>
              <a:t>Generally high a with some bias (MEMS later than Booklet)</a:t>
            </a:r>
          </a:p>
          <a:p>
            <a:r>
              <a:rPr lang="en-US" dirty="0"/>
              <a:t>Adherence</a:t>
            </a:r>
          </a:p>
          <a:p>
            <a:pPr lvl="1"/>
            <a:r>
              <a:rPr lang="en-US" dirty="0"/>
              <a:t>~20% higher for Booklet than MEMS</a:t>
            </a:r>
          </a:p>
          <a:p>
            <a:r>
              <a:rPr lang="en-US" dirty="0"/>
              <a:t>Diurnal Patterns</a:t>
            </a:r>
          </a:p>
          <a:p>
            <a:pPr lvl="1"/>
            <a:r>
              <a:rPr lang="en-US" dirty="0"/>
              <a:t>Cortisol rose then fell (expected)</a:t>
            </a:r>
          </a:p>
          <a:p>
            <a:pPr lvl="1"/>
            <a:r>
              <a:rPr lang="en-US" dirty="0"/>
              <a:t>DHEA fell rapidly then more slowly (unexpected)</a:t>
            </a:r>
          </a:p>
          <a:p>
            <a:pPr lvl="1"/>
            <a:endParaRPr lang="en-US" dirty="0"/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Small sample size (31 subjects)</a:t>
            </a:r>
          </a:p>
          <a:p>
            <a:pPr lvl="1"/>
            <a:r>
              <a:rPr lang="en-US" dirty="0"/>
              <a:t>Subjective sleep diary wake times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21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424</Words>
  <Application>Microsoft Office PowerPoint</Application>
  <PresentationFormat>Widescreen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Evaluation of At-Home Sample Timing for Diurnal Hormone Level Characterization</vt:lpstr>
      <vt:lpstr>Research Questions</vt:lpstr>
      <vt:lpstr>Data Overview</vt:lpstr>
      <vt:lpstr>Analysis Methods</vt:lpstr>
      <vt:lpstr>Results</vt:lpstr>
      <vt:lpstr>Results </vt:lpstr>
      <vt:lpstr>Discussion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Nagel</dc:creator>
  <cp:lastModifiedBy>Joe Nagel</cp:lastModifiedBy>
  <cp:revision>1</cp:revision>
  <dcterms:created xsi:type="dcterms:W3CDTF">2026-02-04T05:32:39Z</dcterms:created>
  <dcterms:modified xsi:type="dcterms:W3CDTF">2026-02-04T17:53:51Z</dcterms:modified>
</cp:coreProperties>
</file>