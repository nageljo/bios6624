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DC7B4-451A-4652-BFA9-868651CF41AB}" v="5" dt="2026-04-08T05:44:13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Nagel" userId="7dedc618e2aa6ce6" providerId="LiveId" clId="{9ECCC3C5-1F9C-40AE-8D6E-A626AAE8C160}"/>
    <pc:docChg chg="undo redo custSel addSld delSld modSld">
      <pc:chgData name="Joe Nagel" userId="7dedc618e2aa6ce6" providerId="LiveId" clId="{9ECCC3C5-1F9C-40AE-8D6E-A626AAE8C160}" dt="2026-04-08T05:44:50.764" v="5342" actId="20577"/>
      <pc:docMkLst>
        <pc:docMk/>
      </pc:docMkLst>
      <pc:sldChg chg="modSp mod">
        <pc:chgData name="Joe Nagel" userId="7dedc618e2aa6ce6" providerId="LiveId" clId="{9ECCC3C5-1F9C-40AE-8D6E-A626AAE8C160}" dt="2026-04-08T05:13:18.371" v="4620" actId="20577"/>
        <pc:sldMkLst>
          <pc:docMk/>
          <pc:sldMk cId="3537462719" sldId="256"/>
        </pc:sldMkLst>
        <pc:spChg chg="mod">
          <ac:chgData name="Joe Nagel" userId="7dedc618e2aa6ce6" providerId="LiveId" clId="{9ECCC3C5-1F9C-40AE-8D6E-A626AAE8C160}" dt="2026-04-08T05:13:18.371" v="4620" actId="20577"/>
          <ac:spMkLst>
            <pc:docMk/>
            <pc:sldMk cId="3537462719" sldId="256"/>
            <ac:spMk id="2" creationId="{DB76B127-8449-56A9-A7CA-132105EDDA07}"/>
          </ac:spMkLst>
        </pc:spChg>
        <pc:spChg chg="mod">
          <ac:chgData name="Joe Nagel" userId="7dedc618e2aa6ce6" providerId="LiveId" clId="{9ECCC3C5-1F9C-40AE-8D6E-A626AAE8C160}" dt="2026-04-08T05:10:09.266" v="4585" actId="20577"/>
          <ac:spMkLst>
            <pc:docMk/>
            <pc:sldMk cId="3537462719" sldId="256"/>
            <ac:spMk id="3" creationId="{2D72F472-0292-8F4F-48DD-A32A01AABCCE}"/>
          </ac:spMkLst>
        </pc:spChg>
      </pc:sldChg>
      <pc:sldChg chg="modSp mod">
        <pc:chgData name="Joe Nagel" userId="7dedc618e2aa6ce6" providerId="LiveId" clId="{9ECCC3C5-1F9C-40AE-8D6E-A626AAE8C160}" dt="2026-04-08T05:37:52.534" v="5146" actId="20577"/>
        <pc:sldMkLst>
          <pc:docMk/>
          <pc:sldMk cId="4230202104" sldId="257"/>
        </pc:sldMkLst>
        <pc:spChg chg="mod">
          <ac:chgData name="Joe Nagel" userId="7dedc618e2aa6ce6" providerId="LiveId" clId="{9ECCC3C5-1F9C-40AE-8D6E-A626AAE8C160}" dt="2026-04-08T05:37:52.534" v="5146" actId="20577"/>
          <ac:spMkLst>
            <pc:docMk/>
            <pc:sldMk cId="4230202104" sldId="257"/>
            <ac:spMk id="3" creationId="{9107E463-4176-F396-06CC-B97788F811FE}"/>
          </ac:spMkLst>
        </pc:spChg>
      </pc:sldChg>
      <pc:sldChg chg="addSp delSp modSp mod">
        <pc:chgData name="Joe Nagel" userId="7dedc618e2aa6ce6" providerId="LiveId" clId="{9ECCC3C5-1F9C-40AE-8D6E-A626AAE8C160}" dt="2026-04-08T05:09:49.102" v="4581" actId="1076"/>
        <pc:sldMkLst>
          <pc:docMk/>
          <pc:sldMk cId="25113018" sldId="258"/>
        </pc:sldMkLst>
        <pc:spChg chg="mod">
          <ac:chgData name="Joe Nagel" userId="7dedc618e2aa6ce6" providerId="LiveId" clId="{9ECCC3C5-1F9C-40AE-8D6E-A626AAE8C160}" dt="2026-04-08T05:09:33.052" v="4580" actId="20577"/>
          <ac:spMkLst>
            <pc:docMk/>
            <pc:sldMk cId="25113018" sldId="258"/>
            <ac:spMk id="3" creationId="{A4CEC750-A8D1-9F91-D7A6-9E0E88E3D906}"/>
          </ac:spMkLst>
        </pc:spChg>
        <pc:spChg chg="del">
          <ac:chgData name="Joe Nagel" userId="7dedc618e2aa6ce6" providerId="LiveId" clId="{9ECCC3C5-1F9C-40AE-8D6E-A626AAE8C160}" dt="2026-04-08T05:02:26.328" v="4147" actId="478"/>
          <ac:spMkLst>
            <pc:docMk/>
            <pc:sldMk cId="25113018" sldId="258"/>
            <ac:spMk id="5" creationId="{6B6D4E1D-36AD-DBA0-97B4-432C7C311BD7}"/>
          </ac:spMkLst>
        </pc:spChg>
        <pc:picChg chg="del">
          <ac:chgData name="Joe Nagel" userId="7dedc618e2aa6ce6" providerId="LiveId" clId="{9ECCC3C5-1F9C-40AE-8D6E-A626AAE8C160}" dt="2026-04-08T05:00:54.686" v="4146" actId="478"/>
          <ac:picMkLst>
            <pc:docMk/>
            <pc:sldMk cId="25113018" sldId="258"/>
            <ac:picMk id="6" creationId="{B84B5937-20CC-2FCB-81BD-B65F8BB5EA48}"/>
          </ac:picMkLst>
        </pc:picChg>
        <pc:picChg chg="add mod">
          <ac:chgData name="Joe Nagel" userId="7dedc618e2aa6ce6" providerId="LiveId" clId="{9ECCC3C5-1F9C-40AE-8D6E-A626AAE8C160}" dt="2026-04-08T05:09:49.102" v="4581" actId="1076"/>
          <ac:picMkLst>
            <pc:docMk/>
            <pc:sldMk cId="25113018" sldId="258"/>
            <ac:picMk id="8" creationId="{96001CC1-A248-E86F-6E55-B2FAEA60DF3C}"/>
          </ac:picMkLst>
        </pc:picChg>
      </pc:sldChg>
      <pc:sldChg chg="delSp modSp mod">
        <pc:chgData name="Joe Nagel" userId="7dedc618e2aa6ce6" providerId="LiveId" clId="{9ECCC3C5-1F9C-40AE-8D6E-A626AAE8C160}" dt="2026-04-08T05:44:50.764" v="5342" actId="20577"/>
        <pc:sldMkLst>
          <pc:docMk/>
          <pc:sldMk cId="3889094601" sldId="259"/>
        </pc:sldMkLst>
        <pc:spChg chg="del">
          <ac:chgData name="Joe Nagel" userId="7dedc618e2aa6ce6" providerId="LiveId" clId="{9ECCC3C5-1F9C-40AE-8D6E-A626AAE8C160}" dt="2026-04-08T05:22:48.115" v="4712" actId="478"/>
          <ac:spMkLst>
            <pc:docMk/>
            <pc:sldMk cId="3889094601" sldId="259"/>
            <ac:spMk id="5" creationId="{8759EBD2-6AF2-4A3A-8C3D-6EBA0510DEF0}"/>
          </ac:spMkLst>
        </pc:spChg>
        <pc:spChg chg="mod">
          <ac:chgData name="Joe Nagel" userId="7dedc618e2aa6ce6" providerId="LiveId" clId="{9ECCC3C5-1F9C-40AE-8D6E-A626AAE8C160}" dt="2026-04-08T05:44:50.764" v="5342" actId="20577"/>
          <ac:spMkLst>
            <pc:docMk/>
            <pc:sldMk cId="3889094601" sldId="259"/>
            <ac:spMk id="6" creationId="{9E8CB982-BE47-7C34-7F77-959F987A9007}"/>
          </ac:spMkLst>
        </pc:spChg>
      </pc:sldChg>
      <pc:sldChg chg="del">
        <pc:chgData name="Joe Nagel" userId="7dedc618e2aa6ce6" providerId="LiveId" clId="{9ECCC3C5-1F9C-40AE-8D6E-A626AAE8C160}" dt="2026-04-08T05:14:05.176" v="4641" actId="47"/>
        <pc:sldMkLst>
          <pc:docMk/>
          <pc:sldMk cId="2686114532" sldId="260"/>
        </pc:sldMkLst>
      </pc:sldChg>
      <pc:sldChg chg="del">
        <pc:chgData name="Joe Nagel" userId="7dedc618e2aa6ce6" providerId="LiveId" clId="{9ECCC3C5-1F9C-40AE-8D6E-A626AAE8C160}" dt="2026-04-08T05:14:05.924" v="4642" actId="47"/>
        <pc:sldMkLst>
          <pc:docMk/>
          <pc:sldMk cId="423347157" sldId="261"/>
        </pc:sldMkLst>
      </pc:sldChg>
      <pc:sldChg chg="del">
        <pc:chgData name="Joe Nagel" userId="7dedc618e2aa6ce6" providerId="LiveId" clId="{9ECCC3C5-1F9C-40AE-8D6E-A626AAE8C160}" dt="2026-04-08T05:14:06.371" v="4643" actId="47"/>
        <pc:sldMkLst>
          <pc:docMk/>
          <pc:sldMk cId="3047217674" sldId="262"/>
        </pc:sldMkLst>
      </pc:sldChg>
    </pc:docChg>
  </pc:docChgLst>
  <pc:docChgLst>
    <pc:chgData name="Joe Nagel" userId="7dedc618e2aa6ce6" providerId="LiveId" clId="{ABE9F2CB-3897-40E9-8C40-FAD008E1458C}"/>
    <pc:docChg chg="custSel modSld">
      <pc:chgData name="Joe Nagel" userId="7dedc618e2aa6ce6" providerId="LiveId" clId="{ABE9F2CB-3897-40E9-8C40-FAD008E1458C}" dt="2026-04-08T17:26:16.486" v="160" actId="20577"/>
      <pc:docMkLst>
        <pc:docMk/>
      </pc:docMkLst>
      <pc:sldChg chg="modSp mod">
        <pc:chgData name="Joe Nagel" userId="7dedc618e2aa6ce6" providerId="LiveId" clId="{ABE9F2CB-3897-40E9-8C40-FAD008E1458C}" dt="2026-04-08T17:26:16.486" v="160" actId="20577"/>
        <pc:sldMkLst>
          <pc:docMk/>
          <pc:sldMk cId="4230202104" sldId="257"/>
        </pc:sldMkLst>
        <pc:spChg chg="mod">
          <ac:chgData name="Joe Nagel" userId="7dedc618e2aa6ce6" providerId="LiveId" clId="{ABE9F2CB-3897-40E9-8C40-FAD008E1458C}" dt="2026-04-08T17:26:16.486" v="160" actId="20577"/>
          <ac:spMkLst>
            <pc:docMk/>
            <pc:sldMk cId="4230202104" sldId="257"/>
            <ac:spMk id="3" creationId="{9107E463-4176-F396-06CC-B97788F811FE}"/>
          </ac:spMkLst>
        </pc:spChg>
      </pc:sldChg>
      <pc:sldChg chg="modSp mod">
        <pc:chgData name="Joe Nagel" userId="7dedc618e2aa6ce6" providerId="LiveId" clId="{ABE9F2CB-3897-40E9-8C40-FAD008E1458C}" dt="2026-04-08T17:02:08.874" v="71" actId="20577"/>
        <pc:sldMkLst>
          <pc:docMk/>
          <pc:sldMk cId="25113018" sldId="258"/>
        </pc:sldMkLst>
        <pc:spChg chg="mod">
          <ac:chgData name="Joe Nagel" userId="7dedc618e2aa6ce6" providerId="LiveId" clId="{ABE9F2CB-3897-40E9-8C40-FAD008E1458C}" dt="2026-04-08T17:02:08.874" v="71" actId="20577"/>
          <ac:spMkLst>
            <pc:docMk/>
            <pc:sldMk cId="25113018" sldId="258"/>
            <ac:spMk id="3" creationId="{A4CEC750-A8D1-9F91-D7A6-9E0E88E3D906}"/>
          </ac:spMkLst>
        </pc:spChg>
      </pc:sldChg>
      <pc:sldChg chg="modSp mod">
        <pc:chgData name="Joe Nagel" userId="7dedc618e2aa6ce6" providerId="LiveId" clId="{ABE9F2CB-3897-40E9-8C40-FAD008E1458C}" dt="2026-04-08T17:25:56.968" v="143" actId="20577"/>
        <pc:sldMkLst>
          <pc:docMk/>
          <pc:sldMk cId="3889094601" sldId="259"/>
        </pc:sldMkLst>
        <pc:spChg chg="mod">
          <ac:chgData name="Joe Nagel" userId="7dedc618e2aa6ce6" providerId="LiveId" clId="{ABE9F2CB-3897-40E9-8C40-FAD008E1458C}" dt="2026-04-08T17:25:56.968" v="143" actId="20577"/>
          <ac:spMkLst>
            <pc:docMk/>
            <pc:sldMk cId="3889094601" sldId="259"/>
            <ac:spMk id="6" creationId="{9E8CB982-BE47-7C34-7F77-959F987A90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37CE6-89CC-4B26-BF23-83552D005A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4A30F-841D-4919-B9D3-042B46085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4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4A30F-841D-4919-B9D3-042B460858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4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E3F4-A90B-58FF-B521-1CDED8943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06EC1-491A-DDCD-BA6D-EFD401F7B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F774-AAAA-14FB-D0D9-89DE0E4D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4D5C-87E6-B9A7-ED14-52B68BFD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3BF7-238F-3A88-ED32-3A04D3C8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FBB0-11D9-CAD3-8DF7-D211FD4A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0322-98FE-8DC1-92FA-9D34D6E2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0B6F-F95C-146E-56B2-E3D3CEBD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1A079-CCEE-667A-7FCF-180C4C15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6B24-0DC5-9EEA-8A5C-B15DDB30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C347-D7DE-248A-0757-93B393ED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3DD30-F8D7-7378-FC74-1BB7B7EE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3032-4343-5776-1942-4AC0F52A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412E-D814-BD80-AFE1-D63BB3E7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FBD3-5445-9D72-C6E4-37E9B2AE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CA7-A449-7B1A-6180-8901C410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499F-0667-9811-D403-D1A4F4F26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8E53D-354B-A472-E7ED-BDD07302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2C8F3-3224-831C-A2F1-47CA97BF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EFD1-9D36-023B-31E5-6D7F7DC2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98035-E99C-B489-ED83-F54341E7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C3CC-1319-370C-BA48-F598C944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962F0-FCDD-E1A2-6A6B-EE87B872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D315-7668-8B4C-FC2A-A457B1FD5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A46E7-CBF9-8901-7114-17B6B00F2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96CB6-8E5C-2F0D-EB81-CBBFE8F72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A6C0B-35F7-17F6-CD09-571125BE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E598B-F8B9-4E13-628B-BFEE760E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82D4A-D669-0381-F343-42C08D8D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BF38-9362-39EC-1D45-798BB98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29DA0-D999-2776-BFE5-D466CF72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11A34-DE46-D3A1-E815-3043C8D8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2D481-E2D4-B451-566C-6B773403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BEDA8-2920-A89B-7EFD-2987F97A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3041B-3558-B453-646C-9354F831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56963-1095-D7DE-1F0A-4FAFFC60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4B8D-8026-C3F8-B7C7-D91917F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C21D-8AA7-B98F-3143-3908B41D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389D6-9385-E7F4-8D77-D6C473722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2CA9-939F-076F-2210-0DCFEC53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5A8C9-19E5-6820-3043-EF86A6A2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1D4FC-4C34-F5DC-48A8-94BD386C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4B7-6608-07CB-1193-DC8404C2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3D966-134C-8EA0-A551-FE0CE0CBD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2FC96-C503-F71F-BDA7-D792CF689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DB6B-7067-137A-B1BA-9B47274C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883C6-987F-6B03-4B37-71AF0536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F970A-EE0F-BE8C-9374-CD7B77CA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C5F1-7375-09F6-8761-37BD70C5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DF041-7982-5869-B6AB-99B7D615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94E1E-CA5D-AB1C-3029-43FB3A0C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80019-639A-CDFD-3723-64CE315C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D21B-4857-8769-4D8D-7ECBB04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4ED9E-5D05-3DBB-C2A2-C0D9D416A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6A84-0B18-8A9D-9EA9-B4278520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5EAB-B0F8-6457-4432-8194E7E4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D9CF9-BE98-7F59-DCB6-3974828D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AA0A-D7A3-BA1E-9745-058B2F81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81E64-1341-F401-BAA6-45CA3F37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E9088-917C-EBFB-53A2-5FEBCADA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1D53-578E-6198-24DA-DBA2ED505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4432C-A2F8-4335-967E-A9297080D7C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A3E3E-AFC5-5FC4-837C-68DFC45CC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38-4A55-F25B-125B-6CB417DE1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0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B127-8449-56A9-A7CA-132105EDD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Sex-Specific Risk Factor Analysis and Probability Estimation of Stroke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2F472-0292-8F4F-48DD-A32A01AAB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Joe Nagel</a:t>
            </a:r>
          </a:p>
          <a:p>
            <a:r>
              <a:rPr lang="en-US" dirty="0"/>
              <a:t>4/8/2026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AA591B-C3CA-00CE-75FE-14B3DDD86E22}"/>
              </a:ext>
            </a:extLst>
          </p:cNvPr>
          <p:cNvGrpSpPr/>
          <p:nvPr/>
        </p:nvGrpSpPr>
        <p:grpSpPr>
          <a:xfrm>
            <a:off x="448056" y="356616"/>
            <a:ext cx="3995928" cy="5193792"/>
            <a:chOff x="448056" y="374904"/>
            <a:chExt cx="3995928" cy="51937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D8A6E0-3DE7-8808-F6A3-2FA1CF37FFDE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EFC30E-B068-B002-55AC-80BC2C645795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BB206C-DD4E-4B59-E75E-55EF4946A891}"/>
              </a:ext>
            </a:extLst>
          </p:cNvPr>
          <p:cNvGrpSpPr/>
          <p:nvPr/>
        </p:nvGrpSpPr>
        <p:grpSpPr>
          <a:xfrm rot="10800000">
            <a:off x="7748016" y="1294766"/>
            <a:ext cx="3995928" cy="5193792"/>
            <a:chOff x="448056" y="374904"/>
            <a:chExt cx="3995928" cy="51937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DB6609-B7DA-A10A-82AF-B725113DF613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95E15C-B2BC-0564-D101-CF81948FA053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746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54C98-5D8F-5000-840D-0A5BD4DD7765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3E58C-02D0-4D5D-E52A-CDABC794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7E463-4176-F396-06CC-B97788F8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1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What clinical risk factors are associated with stroke?</a:t>
            </a:r>
          </a:p>
          <a:p>
            <a:pPr lvl="1"/>
            <a:r>
              <a:rPr lang="en-US" dirty="0"/>
              <a:t>Coronary Heart Disease (CHD)</a:t>
            </a:r>
          </a:p>
          <a:p>
            <a:pPr lvl="1"/>
            <a:r>
              <a:rPr lang="en-US" dirty="0"/>
              <a:t>Use of Blood Pressure Medication</a:t>
            </a:r>
          </a:p>
          <a:p>
            <a:pPr lvl="1"/>
            <a:r>
              <a:rPr lang="en-US" dirty="0"/>
              <a:t>Smoking Status</a:t>
            </a:r>
          </a:p>
          <a:p>
            <a:pPr lvl="1"/>
            <a:r>
              <a:rPr lang="en-US" dirty="0"/>
              <a:t>Total Cholesterol</a:t>
            </a:r>
          </a:p>
          <a:p>
            <a:pPr lvl="1"/>
            <a:r>
              <a:rPr lang="en-US" dirty="0"/>
              <a:t>Body Mass Index (BMI)</a:t>
            </a:r>
          </a:p>
          <a:p>
            <a:r>
              <a:rPr lang="en-US" b="1" dirty="0"/>
              <a:t>What is the 10-year probability of stroke for specific risk profiles?</a:t>
            </a:r>
          </a:p>
          <a:p>
            <a:pPr lvl="1"/>
            <a:r>
              <a:rPr lang="en-US" dirty="0"/>
              <a:t>Age (40, 50, 60) and Sex</a:t>
            </a:r>
          </a:p>
          <a:p>
            <a:pPr lvl="1"/>
            <a:r>
              <a:rPr lang="en-US" dirty="0"/>
              <a:t>High Blood Pressure, Diabetes, Obesity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0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9289A-5771-95DB-A6B5-99BC9137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E334AC-0AF1-0539-2973-F7898FB1412E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BDC4D-F599-9B2F-E39C-D8592800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EC750-A8D1-9F91-D7A6-9E0E88E3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2" y="1825625"/>
            <a:ext cx="482653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4434 Total Subjects</a:t>
            </a:r>
          </a:p>
          <a:p>
            <a:pPr lvl="1"/>
            <a:r>
              <a:rPr lang="en-US" sz="1800" dirty="0"/>
              <a:t>32 excluded (prevalent stroke)</a:t>
            </a:r>
          </a:p>
          <a:p>
            <a:r>
              <a:rPr lang="en-US" sz="2000" dirty="0"/>
              <a:t>111 Strokes During Follow-up</a:t>
            </a:r>
          </a:p>
          <a:p>
            <a:pPr lvl="1"/>
            <a:r>
              <a:rPr lang="en-US" sz="1800" dirty="0"/>
              <a:t>2.5% of all subjects</a:t>
            </a:r>
          </a:p>
          <a:p>
            <a:r>
              <a:rPr lang="en-US" sz="2000" dirty="0"/>
              <a:t>9.5 Years of Average Follow-up</a:t>
            </a:r>
          </a:p>
          <a:p>
            <a:r>
              <a:rPr lang="en-US" sz="2000" dirty="0"/>
              <a:t>Minimal Missingness</a:t>
            </a:r>
          </a:p>
          <a:p>
            <a:pPr lvl="1"/>
            <a:r>
              <a:rPr lang="en-US" sz="1600" dirty="0"/>
              <a:t>4275 Final Sample Size (127 w/ Missing)</a:t>
            </a:r>
          </a:p>
          <a:p>
            <a:r>
              <a:rPr lang="en-US" sz="2000" dirty="0"/>
              <a:t>Covariates</a:t>
            </a:r>
          </a:p>
          <a:p>
            <a:pPr lvl="1"/>
            <a:r>
              <a:rPr lang="en-US" sz="1600" dirty="0"/>
              <a:t>Age</a:t>
            </a:r>
          </a:p>
          <a:p>
            <a:pPr lvl="1"/>
            <a:r>
              <a:rPr lang="en-US" sz="1600" dirty="0"/>
              <a:t>Systolic Blood Pressure</a:t>
            </a:r>
          </a:p>
          <a:p>
            <a:pPr lvl="1"/>
            <a:r>
              <a:rPr lang="en-US" sz="1600" dirty="0"/>
              <a:t>Total Cholesterol</a:t>
            </a:r>
          </a:p>
          <a:p>
            <a:pPr lvl="1"/>
            <a:r>
              <a:rPr lang="en-US" sz="1600" dirty="0"/>
              <a:t>BMI</a:t>
            </a:r>
          </a:p>
          <a:p>
            <a:pPr lvl="1"/>
            <a:r>
              <a:rPr lang="en-US" sz="1600" dirty="0"/>
              <a:t>Diabetes</a:t>
            </a:r>
          </a:p>
          <a:p>
            <a:pPr lvl="1"/>
            <a:r>
              <a:rPr lang="en-US" sz="1600" dirty="0"/>
              <a:t>Coronary Heart Disease</a:t>
            </a:r>
          </a:p>
          <a:p>
            <a:pPr lvl="1"/>
            <a:r>
              <a:rPr lang="en-US" sz="1600" dirty="0"/>
              <a:t>Blood Pressure Medication Use</a:t>
            </a:r>
          </a:p>
          <a:p>
            <a:pPr lvl="1"/>
            <a:r>
              <a:rPr lang="en-US" sz="1600" dirty="0"/>
              <a:t>Smoking Status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01CC1-A248-E86F-6E55-B2FAEA60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493" y="2101150"/>
            <a:ext cx="6176288" cy="380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CD82A-6B15-D3E5-8E3F-CFF347F8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5319D8-E572-8B2A-1B13-3466A620231A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17895-CA06-72EE-2C36-22FC9693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Analysis Methods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8CB982-BE47-7C34-7F77-959F987A9007}"/>
              </a:ext>
            </a:extLst>
          </p:cNvPr>
          <p:cNvSpPr txBox="1">
            <a:spLocks/>
          </p:cNvSpPr>
          <p:nvPr/>
        </p:nvSpPr>
        <p:spPr>
          <a:xfrm>
            <a:off x="1198417" y="1825625"/>
            <a:ext cx="105063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Base Model</a:t>
            </a:r>
          </a:p>
          <a:p>
            <a:pPr lvl="1"/>
            <a:r>
              <a:rPr lang="en-US" dirty="0"/>
              <a:t>Cox Proportional Hazards Models for Males and Females</a:t>
            </a:r>
          </a:p>
          <a:p>
            <a:pPr lvl="2"/>
            <a:r>
              <a:rPr lang="en-US" dirty="0"/>
              <a:t>Risk of stroke by age, diabetes status, and systolic blood pressure</a:t>
            </a:r>
          </a:p>
          <a:p>
            <a:r>
              <a:rPr lang="en-US" dirty="0"/>
              <a:t>Identify Potential Risk Factors</a:t>
            </a:r>
          </a:p>
          <a:p>
            <a:pPr lvl="1"/>
            <a:r>
              <a:rPr lang="en-US" dirty="0"/>
              <a:t>CHD, blood pressure medication, smoking status, total cholesterol, BMI</a:t>
            </a:r>
          </a:p>
          <a:p>
            <a:pPr lvl="1"/>
            <a:r>
              <a:rPr lang="en-US" dirty="0"/>
              <a:t>Selected using AIC-based backwards selection</a:t>
            </a:r>
          </a:p>
          <a:p>
            <a:r>
              <a:rPr lang="en-US" dirty="0"/>
              <a:t>Estimate 10-year probability of stroke for specific profiles</a:t>
            </a:r>
          </a:p>
          <a:p>
            <a:pPr lvl="1"/>
            <a:r>
              <a:rPr lang="en-US" dirty="0"/>
              <a:t>Sex</a:t>
            </a:r>
          </a:p>
          <a:p>
            <a:pPr lvl="1"/>
            <a:r>
              <a:rPr lang="en-US" dirty="0"/>
              <a:t>Ages: 40, 50, 60</a:t>
            </a:r>
          </a:p>
          <a:p>
            <a:pPr lvl="1"/>
            <a:r>
              <a:rPr lang="en-US" dirty="0"/>
              <a:t>High Blood Pressure (BP=160), Diabetes, Obese (BMI=30)</a:t>
            </a:r>
          </a:p>
          <a:p>
            <a:r>
              <a:rPr lang="en-US" dirty="0"/>
              <a:t>Assess Proportional Hazards</a:t>
            </a:r>
          </a:p>
          <a:p>
            <a:pPr lvl="1"/>
            <a:r>
              <a:rPr lang="en-US" dirty="0"/>
              <a:t>Kaplan-Meier Survival Curves and Schoenfeld residuals test</a:t>
            </a:r>
          </a:p>
          <a:p>
            <a:r>
              <a:rPr lang="en-US" dirty="0"/>
              <a:t>Evaluate Impact of Time-Varying Covariates</a:t>
            </a:r>
          </a:p>
          <a:p>
            <a:pPr lvl="1"/>
            <a:r>
              <a:rPr lang="en-US" dirty="0"/>
              <a:t>Diabetes Status and Blood Pressure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9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228</Words>
  <Application>Microsoft Office PowerPoint</Application>
  <PresentationFormat>Widescreen</PresentationFormat>
  <Paragraphs>50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Sex-Specific Risk Factor Analysis and Probability Estimation of Stroke</vt:lpstr>
      <vt:lpstr>Research Questions</vt:lpstr>
      <vt:lpstr>Data Overview</vt:lpstr>
      <vt:lpstr>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Nagel</dc:creator>
  <cp:lastModifiedBy>Joe Nagel</cp:lastModifiedBy>
  <cp:revision>1</cp:revision>
  <dcterms:created xsi:type="dcterms:W3CDTF">2026-02-04T05:32:39Z</dcterms:created>
  <dcterms:modified xsi:type="dcterms:W3CDTF">2026-04-08T17:26:19Z</dcterms:modified>
</cp:coreProperties>
</file>