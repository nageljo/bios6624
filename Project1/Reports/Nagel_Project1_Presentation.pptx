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3A2C6-2521-4BE7-BAFD-35F29B136EE3}" v="163" dt="2026-03-02T16:05:00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48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Nagel" userId="7dedc618e2aa6ce6" providerId="LiveId" clId="{9ECCC3C5-1F9C-40AE-8D6E-A626AAE8C160}"/>
    <pc:docChg chg="undo redo custSel addSld delSld modSld">
      <pc:chgData name="Joe Nagel" userId="7dedc618e2aa6ce6" providerId="LiveId" clId="{9ECCC3C5-1F9C-40AE-8D6E-A626AAE8C160}" dt="2026-03-02T16:09:05.852" v="3202" actId="20577"/>
      <pc:docMkLst>
        <pc:docMk/>
      </pc:docMkLst>
      <pc:sldChg chg="modSp mod">
        <pc:chgData name="Joe Nagel" userId="7dedc618e2aa6ce6" providerId="LiveId" clId="{9ECCC3C5-1F9C-40AE-8D6E-A626AAE8C160}" dt="2026-03-02T06:16:46.768" v="264"/>
        <pc:sldMkLst>
          <pc:docMk/>
          <pc:sldMk cId="3537462719" sldId="256"/>
        </pc:sldMkLst>
        <pc:spChg chg="mod">
          <ac:chgData name="Joe Nagel" userId="7dedc618e2aa6ce6" providerId="LiveId" clId="{9ECCC3C5-1F9C-40AE-8D6E-A626AAE8C160}" dt="2026-03-02T06:16:46.768" v="264"/>
          <ac:spMkLst>
            <pc:docMk/>
            <pc:sldMk cId="3537462719" sldId="256"/>
            <ac:spMk id="2" creationId="{DB76B127-8449-56A9-A7CA-132105EDDA07}"/>
          </ac:spMkLst>
        </pc:spChg>
        <pc:spChg chg="mod">
          <ac:chgData name="Joe Nagel" userId="7dedc618e2aa6ce6" providerId="LiveId" clId="{9ECCC3C5-1F9C-40AE-8D6E-A626AAE8C160}" dt="2026-03-02T06:08:49.155" v="188" actId="20577"/>
          <ac:spMkLst>
            <pc:docMk/>
            <pc:sldMk cId="3537462719" sldId="256"/>
            <ac:spMk id="3" creationId="{2D72F472-0292-8F4F-48DD-A32A01AABCCE}"/>
          </ac:spMkLst>
        </pc:spChg>
      </pc:sldChg>
      <pc:sldChg chg="modSp mod">
        <pc:chgData name="Joe Nagel" userId="7dedc618e2aa6ce6" providerId="LiveId" clId="{9ECCC3C5-1F9C-40AE-8D6E-A626AAE8C160}" dt="2026-03-02T16:09:05.852" v="3202" actId="20577"/>
        <pc:sldMkLst>
          <pc:docMk/>
          <pc:sldMk cId="4230202104" sldId="257"/>
        </pc:sldMkLst>
        <pc:spChg chg="mod">
          <ac:chgData name="Joe Nagel" userId="7dedc618e2aa6ce6" providerId="LiveId" clId="{9ECCC3C5-1F9C-40AE-8D6E-A626AAE8C160}" dt="2026-03-02T16:09:05.852" v="3202" actId="20577"/>
          <ac:spMkLst>
            <pc:docMk/>
            <pc:sldMk cId="4230202104" sldId="257"/>
            <ac:spMk id="3" creationId="{9107E463-4176-F396-06CC-B97788F811FE}"/>
          </ac:spMkLst>
        </pc:spChg>
      </pc:sldChg>
      <pc:sldChg chg="addSp delSp modSp mod">
        <pc:chgData name="Joe Nagel" userId="7dedc618e2aa6ce6" providerId="LiveId" clId="{9ECCC3C5-1F9C-40AE-8D6E-A626AAE8C160}" dt="2026-03-02T07:05:01.376" v="1818" actId="20577"/>
        <pc:sldMkLst>
          <pc:docMk/>
          <pc:sldMk cId="25113018" sldId="258"/>
        </pc:sldMkLst>
        <pc:spChg chg="mod">
          <ac:chgData name="Joe Nagel" userId="7dedc618e2aa6ce6" providerId="LiveId" clId="{9ECCC3C5-1F9C-40AE-8D6E-A626AAE8C160}" dt="2026-03-02T07:05:01.376" v="1818" actId="20577"/>
          <ac:spMkLst>
            <pc:docMk/>
            <pc:sldMk cId="25113018" sldId="258"/>
            <ac:spMk id="3" creationId="{A4CEC750-A8D1-9F91-D7A6-9E0E88E3D906}"/>
          </ac:spMkLst>
        </pc:spChg>
        <pc:picChg chg="add mod">
          <ac:chgData name="Joe Nagel" userId="7dedc618e2aa6ce6" providerId="LiveId" clId="{9ECCC3C5-1F9C-40AE-8D6E-A626AAE8C160}" dt="2026-03-02T06:32:43.878" v="964" actId="1076"/>
          <ac:picMkLst>
            <pc:docMk/>
            <pc:sldMk cId="25113018" sldId="258"/>
            <ac:picMk id="6" creationId="{B84B5937-20CC-2FCB-81BD-B65F8BB5EA48}"/>
          </ac:picMkLst>
        </pc:picChg>
        <pc:picChg chg="add del mod">
          <ac:chgData name="Joe Nagel" userId="7dedc618e2aa6ce6" providerId="LiveId" clId="{9ECCC3C5-1F9C-40AE-8D6E-A626AAE8C160}" dt="2026-03-02T06:17:31.146" v="265" actId="478"/>
          <ac:picMkLst>
            <pc:docMk/>
            <pc:sldMk cId="25113018" sldId="258"/>
            <ac:picMk id="10" creationId="{E4936EC5-7802-0768-3537-7822D3FC465E}"/>
          </ac:picMkLst>
        </pc:picChg>
      </pc:sldChg>
      <pc:sldChg chg="addSp delSp modSp mod">
        <pc:chgData name="Joe Nagel" userId="7dedc618e2aa6ce6" providerId="LiveId" clId="{9ECCC3C5-1F9C-40AE-8D6E-A626AAE8C160}" dt="2026-03-02T07:04:45.736" v="1813" actId="478"/>
        <pc:sldMkLst>
          <pc:docMk/>
          <pc:sldMk cId="3889094601" sldId="259"/>
        </pc:sldMkLst>
        <pc:spChg chg="del mod">
          <ac:chgData name="Joe Nagel" userId="7dedc618e2aa6ce6" providerId="LiveId" clId="{9ECCC3C5-1F9C-40AE-8D6E-A626AAE8C160}" dt="2026-03-02T07:04:37.050" v="1811" actId="478"/>
          <ac:spMkLst>
            <pc:docMk/>
            <pc:sldMk cId="3889094601" sldId="259"/>
            <ac:spMk id="3" creationId="{3733F0CC-FFFC-34B3-F3B7-B973DF172032}"/>
          </ac:spMkLst>
        </pc:spChg>
        <pc:spChg chg="add mod">
          <ac:chgData name="Joe Nagel" userId="7dedc618e2aa6ce6" providerId="LiveId" clId="{9ECCC3C5-1F9C-40AE-8D6E-A626AAE8C160}" dt="2026-03-02T06:42:56.857" v="1461"/>
          <ac:spMkLst>
            <pc:docMk/>
            <pc:sldMk cId="3889094601" sldId="259"/>
            <ac:spMk id="5" creationId="{8759EBD2-6AF2-4A3A-8C3D-6EBA0510DEF0}"/>
          </ac:spMkLst>
        </pc:spChg>
        <pc:spChg chg="add mod">
          <ac:chgData name="Joe Nagel" userId="7dedc618e2aa6ce6" providerId="LiveId" clId="{9ECCC3C5-1F9C-40AE-8D6E-A626AAE8C160}" dt="2026-03-02T07:04:42.027" v="1812" actId="1076"/>
          <ac:spMkLst>
            <pc:docMk/>
            <pc:sldMk cId="3889094601" sldId="259"/>
            <ac:spMk id="6" creationId="{9E8CB982-BE47-7C34-7F77-959F987A9007}"/>
          </ac:spMkLst>
        </pc:spChg>
        <pc:spChg chg="add del mod">
          <ac:chgData name="Joe Nagel" userId="7dedc618e2aa6ce6" providerId="LiveId" clId="{9ECCC3C5-1F9C-40AE-8D6E-A626AAE8C160}" dt="2026-03-02T07:04:45.736" v="1813" actId="478"/>
          <ac:spMkLst>
            <pc:docMk/>
            <pc:sldMk cId="3889094601" sldId="259"/>
            <ac:spMk id="8" creationId="{036772FC-3301-224F-4946-9DC71F132E8D}"/>
          </ac:spMkLst>
        </pc:spChg>
      </pc:sldChg>
      <pc:sldChg chg="addSp delSp modSp mod">
        <pc:chgData name="Joe Nagel" userId="7dedc618e2aa6ce6" providerId="LiveId" clId="{9ECCC3C5-1F9C-40AE-8D6E-A626AAE8C160}" dt="2026-03-02T15:54:11.232" v="2788" actId="1038"/>
        <pc:sldMkLst>
          <pc:docMk/>
          <pc:sldMk cId="2686114532" sldId="260"/>
        </pc:sldMkLst>
        <pc:spChg chg="del mod">
          <ac:chgData name="Joe Nagel" userId="7dedc618e2aa6ce6" providerId="LiveId" clId="{9ECCC3C5-1F9C-40AE-8D6E-A626AAE8C160}" dt="2026-03-02T06:53:28.300" v="1581" actId="478"/>
          <ac:spMkLst>
            <pc:docMk/>
            <pc:sldMk cId="2686114532" sldId="260"/>
            <ac:spMk id="3" creationId="{B236F421-EFFF-DBDF-901F-5E305552BAEE}"/>
          </ac:spMkLst>
        </pc:spChg>
        <pc:spChg chg="add del mod">
          <ac:chgData name="Joe Nagel" userId="7dedc618e2aa6ce6" providerId="LiveId" clId="{9ECCC3C5-1F9C-40AE-8D6E-A626AAE8C160}" dt="2026-03-02T06:53:54.250" v="1616" actId="478"/>
          <ac:spMkLst>
            <pc:docMk/>
            <pc:sldMk cId="2686114532" sldId="260"/>
            <ac:spMk id="10" creationId="{E56B7CF1-9C44-34FA-0DD3-776AFAF6BE76}"/>
          </ac:spMkLst>
        </pc:spChg>
        <pc:spChg chg="add mod">
          <ac:chgData name="Joe Nagel" userId="7dedc618e2aa6ce6" providerId="LiveId" clId="{9ECCC3C5-1F9C-40AE-8D6E-A626AAE8C160}" dt="2026-03-02T15:53:38.705" v="2780" actId="20577"/>
          <ac:spMkLst>
            <pc:docMk/>
            <pc:sldMk cId="2686114532" sldId="260"/>
            <ac:spMk id="13" creationId="{54DFB423-B137-995E-47DC-FCB1BA6060FF}"/>
          </ac:spMkLst>
        </pc:spChg>
        <pc:picChg chg="add mod">
          <ac:chgData name="Joe Nagel" userId="7dedc618e2aa6ce6" providerId="LiveId" clId="{9ECCC3C5-1F9C-40AE-8D6E-A626AAE8C160}" dt="2026-03-02T06:49:08.897" v="1497" actId="1076"/>
          <ac:picMkLst>
            <pc:docMk/>
            <pc:sldMk cId="2686114532" sldId="260"/>
            <ac:picMk id="6" creationId="{5EA9AE82-B3AA-3356-7FFE-18C2BDCC3BDA}"/>
          </ac:picMkLst>
        </pc:picChg>
        <pc:picChg chg="del">
          <ac:chgData name="Joe Nagel" userId="7dedc618e2aa6ce6" providerId="LiveId" clId="{9ECCC3C5-1F9C-40AE-8D6E-A626AAE8C160}" dt="2026-03-02T06:43:33.557" v="1462" actId="478"/>
          <ac:picMkLst>
            <pc:docMk/>
            <pc:sldMk cId="2686114532" sldId="260"/>
            <ac:picMk id="8" creationId="{9B414684-774D-9D3B-3DB6-D8775959D60E}"/>
          </ac:picMkLst>
        </pc:picChg>
        <pc:picChg chg="add mod">
          <ac:chgData name="Joe Nagel" userId="7dedc618e2aa6ce6" providerId="LiveId" clId="{9ECCC3C5-1F9C-40AE-8D6E-A626AAE8C160}" dt="2026-03-02T15:54:11.232" v="2788" actId="1038"/>
          <ac:picMkLst>
            <pc:docMk/>
            <pc:sldMk cId="2686114532" sldId="260"/>
            <ac:picMk id="9" creationId="{82BD0CB5-7A9D-429E-07C1-9456F363D9B8}"/>
          </ac:picMkLst>
        </pc:picChg>
        <pc:picChg chg="del">
          <ac:chgData name="Joe Nagel" userId="7dedc618e2aa6ce6" providerId="LiveId" clId="{9ECCC3C5-1F9C-40AE-8D6E-A626AAE8C160}" dt="2026-03-02T06:43:34.571" v="1463" actId="478"/>
          <ac:picMkLst>
            <pc:docMk/>
            <pc:sldMk cId="2686114532" sldId="260"/>
            <ac:picMk id="11" creationId="{D078B2B9-9C28-658F-6530-35009A658C85}"/>
          </ac:picMkLst>
        </pc:picChg>
      </pc:sldChg>
      <pc:sldChg chg="addSp delSp modSp mod">
        <pc:chgData name="Joe Nagel" userId="7dedc618e2aa6ce6" providerId="LiveId" clId="{9ECCC3C5-1F9C-40AE-8D6E-A626AAE8C160}" dt="2026-03-02T16:04:04.015" v="3070"/>
        <pc:sldMkLst>
          <pc:docMk/>
          <pc:sldMk cId="423347157" sldId="261"/>
        </pc:sldMkLst>
        <pc:spChg chg="mod">
          <ac:chgData name="Joe Nagel" userId="7dedc618e2aa6ce6" providerId="LiveId" clId="{9ECCC3C5-1F9C-40AE-8D6E-A626AAE8C160}" dt="2026-03-02T16:04:04.015" v="3070"/>
          <ac:spMkLst>
            <pc:docMk/>
            <pc:sldMk cId="423347157" sldId="261"/>
            <ac:spMk id="3" creationId="{AB8CFF99-1BAD-C029-F3A0-D68B0F26B493}"/>
          </ac:spMkLst>
        </pc:spChg>
        <pc:picChg chg="del">
          <ac:chgData name="Joe Nagel" userId="7dedc618e2aa6ce6" providerId="LiveId" clId="{9ECCC3C5-1F9C-40AE-8D6E-A626AAE8C160}" dt="2026-03-02T15:45:05.671" v="2075" actId="478"/>
          <ac:picMkLst>
            <pc:docMk/>
            <pc:sldMk cId="423347157" sldId="261"/>
            <ac:picMk id="6" creationId="{75B18071-5363-DA14-CB25-56E20F550C8A}"/>
          </ac:picMkLst>
        </pc:picChg>
        <pc:picChg chg="add mod">
          <ac:chgData name="Joe Nagel" userId="7dedc618e2aa6ce6" providerId="LiveId" clId="{9ECCC3C5-1F9C-40AE-8D6E-A626AAE8C160}" dt="2026-03-02T15:46:01.905" v="2085" actId="1076"/>
          <ac:picMkLst>
            <pc:docMk/>
            <pc:sldMk cId="423347157" sldId="261"/>
            <ac:picMk id="7" creationId="{71B5FB2F-3FCF-E9B0-A83B-893E1A40804F}"/>
          </ac:picMkLst>
        </pc:picChg>
        <pc:picChg chg="add mod">
          <ac:chgData name="Joe Nagel" userId="7dedc618e2aa6ce6" providerId="LiveId" clId="{9ECCC3C5-1F9C-40AE-8D6E-A626AAE8C160}" dt="2026-03-02T15:46:00.033" v="2084" actId="1076"/>
          <ac:picMkLst>
            <pc:docMk/>
            <pc:sldMk cId="423347157" sldId="261"/>
            <ac:picMk id="9" creationId="{27827DEC-ABC7-C458-8054-75FF8569BD35}"/>
          </ac:picMkLst>
        </pc:picChg>
      </pc:sldChg>
      <pc:sldChg chg="modSp mod">
        <pc:chgData name="Joe Nagel" userId="7dedc618e2aa6ce6" providerId="LiveId" clId="{9ECCC3C5-1F9C-40AE-8D6E-A626AAE8C160}" dt="2026-03-02T16:05:04.336" v="3160" actId="20577"/>
        <pc:sldMkLst>
          <pc:docMk/>
          <pc:sldMk cId="3047217674" sldId="262"/>
        </pc:sldMkLst>
        <pc:spChg chg="mod">
          <ac:chgData name="Joe Nagel" userId="7dedc618e2aa6ce6" providerId="LiveId" clId="{9ECCC3C5-1F9C-40AE-8D6E-A626AAE8C160}" dt="2026-03-02T16:05:04.336" v="3160" actId="20577"/>
          <ac:spMkLst>
            <pc:docMk/>
            <pc:sldMk cId="3047217674" sldId="262"/>
            <ac:spMk id="3" creationId="{CA7BD3A7-89A9-3E76-E581-B8712E3D1DB9}"/>
          </ac:spMkLst>
        </pc:spChg>
      </pc:sldChg>
      <pc:sldChg chg="new del">
        <pc:chgData name="Joe Nagel" userId="7dedc618e2aa6ce6" providerId="LiveId" clId="{9ECCC3C5-1F9C-40AE-8D6E-A626AAE8C160}" dt="2026-03-02T16:04:18.378" v="3071" actId="47"/>
        <pc:sldMkLst>
          <pc:docMk/>
          <pc:sldMk cId="33365916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37CE6-89CC-4B26-BF23-83552D005AE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4A30F-841D-4919-B9D3-042B46085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4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4A30F-841D-4919-B9D3-042B460858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4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4A30F-841D-4919-B9D3-042B460858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6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E3F4-A90B-58FF-B521-1CDED8943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06EC1-491A-DDCD-BA6D-EFD401F7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774-AAAA-14FB-D0D9-89DE0E4D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4D5C-87E6-B9A7-ED14-52B68BFD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3BF7-238F-3A88-ED32-3A04D3C8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FBB0-11D9-CAD3-8DF7-D211FD4A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0322-98FE-8DC1-92FA-9D34D6E2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0B6F-F95C-146E-56B2-E3D3CEBD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1A079-CCEE-667A-7FCF-180C4C15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6B24-0DC5-9EEA-8A5C-B15DDB30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C347-D7DE-248A-0757-93B393ED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3DD30-F8D7-7378-FC74-1BB7B7EE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3032-4343-5776-1942-4AC0F52A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412E-D814-BD80-AFE1-D63BB3E7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FBD3-5445-9D72-C6E4-37E9B2AE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CA7-A449-7B1A-6180-8901C410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499F-0667-9811-D403-D1A4F4F26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8E53D-354B-A472-E7ED-BDD07302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2C8F3-3224-831C-A2F1-47CA97BF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EFD1-9D36-023B-31E5-6D7F7DC2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98035-E99C-B489-ED83-F54341E7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3CC-1319-370C-BA48-F598C944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962F0-FCDD-E1A2-6A6B-EE87B872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D315-7668-8B4C-FC2A-A457B1FD5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A46E7-CBF9-8901-7114-17B6B00F2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96CB6-8E5C-2F0D-EB81-CBBFE8F72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A6C0B-35F7-17F6-CD09-571125BE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E598B-F8B9-4E13-628B-BFEE760E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82D4A-D669-0381-F343-42C08D8D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BF38-9362-39EC-1D45-798BB98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29DA0-D999-2776-BFE5-D466CF72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1A34-DE46-D3A1-E815-3043C8D8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D481-E2D4-B451-566C-6B773403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BEDA8-2920-A89B-7EFD-2987F97A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3041B-3558-B453-646C-9354F831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56963-1095-D7DE-1F0A-4FAFFC60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4B8D-8026-C3F8-B7C7-D91917F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C21D-8AA7-B98F-3143-3908B41D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389D6-9385-E7F4-8D77-D6C4737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2CA9-939F-076F-2210-0DCFEC53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5A8C9-19E5-6820-3043-EF86A6A2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1D4FC-4C34-F5DC-48A8-94BD386C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4B7-6608-07CB-1193-DC8404C2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3D966-134C-8EA0-A551-FE0CE0CBD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FC96-C503-F71F-BDA7-D792CF68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DB6B-7067-137A-B1BA-9B47274C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883C6-987F-6B03-4B37-71AF0536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970A-EE0F-BE8C-9374-CD7B77CA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C5F1-7375-09F6-8761-37BD70C5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F041-7982-5869-B6AB-99B7D615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94E1E-CA5D-AB1C-3029-43FB3A0C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0019-639A-CDFD-3723-64CE315C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D21B-4857-8769-4D8D-7ECBB04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4ED9E-5D05-3DBB-C2A2-C0D9D416A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6A84-0B18-8A9D-9EA9-B4278520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5EAB-B0F8-6457-4432-8194E7E4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D9CF9-BE98-7F59-DCB6-3974828D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AA0A-D7A3-BA1E-9745-058B2F81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81E64-1341-F401-BAA6-45CA3F37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E9088-917C-EBFB-53A2-5FEBCADA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1D53-578E-6198-24DA-DBA2ED505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4432C-A2F8-4335-967E-A9297080D7C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3E3E-AFC5-5FC4-837C-68DFC45CC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38-4A55-F25B-125B-6CB417DE1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B127-8449-56A9-A7CA-132105EDD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Impacts of Hard Drug Use on HAART Efficacy in HIV-Positive Men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2F472-0292-8F4F-48DD-A32A01AAB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Joe Nagel</a:t>
            </a:r>
          </a:p>
          <a:p>
            <a:r>
              <a:rPr lang="en-US" dirty="0"/>
              <a:t>3/2/2026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AA591B-C3CA-00CE-75FE-14B3DDD86E22}"/>
              </a:ext>
            </a:extLst>
          </p:cNvPr>
          <p:cNvGrpSpPr/>
          <p:nvPr/>
        </p:nvGrpSpPr>
        <p:grpSpPr>
          <a:xfrm>
            <a:off x="448056" y="356616"/>
            <a:ext cx="3995928" cy="5193792"/>
            <a:chOff x="448056" y="374904"/>
            <a:chExt cx="3995928" cy="519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D8A6E0-3DE7-8808-F6A3-2FA1CF37FFDE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EFC30E-B068-B002-55AC-80BC2C645795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BB206C-DD4E-4B59-E75E-55EF4946A891}"/>
              </a:ext>
            </a:extLst>
          </p:cNvPr>
          <p:cNvGrpSpPr/>
          <p:nvPr/>
        </p:nvGrpSpPr>
        <p:grpSpPr>
          <a:xfrm rot="10800000">
            <a:off x="7748016" y="1294766"/>
            <a:ext cx="3995928" cy="5193792"/>
            <a:chOff x="448056" y="374904"/>
            <a:chExt cx="3995928" cy="51937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DB6609-B7DA-A10A-82AF-B725113DF613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95E15C-B2BC-0564-D101-CF81948FA053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46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54C98-5D8F-5000-840D-0A5BD4DD7765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3E58C-02D0-4D5D-E52A-CDABC794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7E463-4176-F396-06CC-B97788F8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How is the treatment response after 2 years of HAART affected by hard drug use?</a:t>
            </a:r>
          </a:p>
          <a:p>
            <a:pPr lvl="1"/>
            <a:r>
              <a:rPr lang="en-US" dirty="0"/>
              <a:t>SF-36 Mental Component Summary (MCS) Score</a:t>
            </a:r>
          </a:p>
          <a:p>
            <a:pPr lvl="1"/>
            <a:r>
              <a:rPr lang="en-US" dirty="0"/>
              <a:t>SF-36 Physical Component Summary (PCS) Score</a:t>
            </a:r>
          </a:p>
          <a:p>
            <a:pPr lvl="1"/>
            <a:r>
              <a:rPr lang="en-US" dirty="0"/>
              <a:t>HIV viral load (analyzed on log10 scale)</a:t>
            </a:r>
          </a:p>
          <a:p>
            <a:pPr lvl="1"/>
            <a:r>
              <a:rPr lang="en-US" dirty="0"/>
              <a:t>CD4+ T cell count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Are any effects of hard drug use confounded or mediated by study protocol adherence?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9289A-5771-95DB-A6B5-99BC9137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334AC-0AF1-0539-2973-F7898FB1412E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BDC4D-F599-9B2F-E39C-D8592800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C750-A8D1-9F91-D7A6-9E0E88E3D9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2" y="1825625"/>
                <a:ext cx="4260274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715 total subjects</a:t>
                </a:r>
              </a:p>
              <a:p>
                <a:r>
                  <a:rPr lang="en-US" dirty="0"/>
                  <a:t>467 subjects with all outcomes measured at Baseline and Year 2</a:t>
                </a:r>
              </a:p>
              <a:p>
                <a:pPr lvl="1"/>
                <a:r>
                  <a:rPr lang="en-US" dirty="0"/>
                  <a:t>41% missing for drug users</a:t>
                </a:r>
              </a:p>
              <a:p>
                <a:pPr lvl="1"/>
                <a:r>
                  <a:rPr lang="en-US" dirty="0"/>
                  <a:t>32% missing for non-users</a:t>
                </a:r>
              </a:p>
              <a:p>
                <a:r>
                  <a:rPr lang="en-US" dirty="0"/>
                  <a:t>Covariates</a:t>
                </a:r>
              </a:p>
              <a:p>
                <a:pPr lvl="1"/>
                <a:r>
                  <a:rPr lang="en-US" dirty="0"/>
                  <a:t>Age</a:t>
                </a:r>
              </a:p>
              <a:p>
                <a:pPr lvl="1"/>
                <a:r>
                  <a:rPr lang="en-US" dirty="0"/>
                  <a:t>BMI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BMI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&lt;400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Smoking Status</a:t>
                </a:r>
              </a:p>
              <a:p>
                <a:pPr lvl="1"/>
                <a:r>
                  <a:rPr lang="en-US" dirty="0"/>
                  <a:t>Education</a:t>
                </a:r>
              </a:p>
              <a:p>
                <a:pPr lvl="1"/>
                <a:r>
                  <a:rPr lang="en-US" dirty="0"/>
                  <a:t>Race/Ethnicity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C750-A8D1-9F91-D7A6-9E0E88E3D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2" y="1825625"/>
                <a:ext cx="4260274" cy="4351338"/>
              </a:xfrm>
              <a:blipFill>
                <a:blip r:embed="rId2"/>
                <a:stretch>
                  <a:fillRect l="-2146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84B5937-20CC-2FCB-81BD-B65F8BB5E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054" y="1612286"/>
            <a:ext cx="6461017" cy="47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CD82A-6B15-D3E5-8E3F-CFF347F8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5319D8-E572-8B2A-1B13-3466A620231A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17895-CA06-72EE-2C36-22FC969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Analysis Methods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59EBD2-6AF2-4A3A-8C3D-6EBA0510DEF0}"/>
              </a:ext>
            </a:extLst>
          </p:cNvPr>
          <p:cNvSpPr txBox="1">
            <a:spLocks/>
          </p:cNvSpPr>
          <p:nvPr/>
        </p:nvSpPr>
        <p:spPr>
          <a:xfrm>
            <a:off x="6437745" y="1825625"/>
            <a:ext cx="5248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Frequentist Approach</a:t>
            </a:r>
          </a:p>
          <a:p>
            <a:pPr lvl="1"/>
            <a:r>
              <a:rPr lang="en-US" dirty="0"/>
              <a:t>Multiple Linear Regression (OLS)</a:t>
            </a:r>
          </a:p>
          <a:p>
            <a:pPr lvl="2"/>
            <a:r>
              <a:rPr lang="en-US" dirty="0"/>
              <a:t>Outcome: Year 2 – Baseline</a:t>
            </a:r>
          </a:p>
          <a:p>
            <a:pPr lvl="2"/>
            <a:r>
              <a:rPr lang="en-US" dirty="0"/>
              <a:t>Adjusted for baseline measurement and covariates</a:t>
            </a:r>
          </a:p>
          <a:p>
            <a:pPr lvl="1"/>
            <a:r>
              <a:rPr lang="en-US" dirty="0"/>
              <a:t>Model Summaries</a:t>
            </a:r>
            <a:endParaRPr lang="en-US" dirty="0">
              <a:latin typeface="Aptos (Body)"/>
            </a:endParaRPr>
          </a:p>
          <a:p>
            <a:pPr lvl="2"/>
            <a:r>
              <a:rPr lang="en-US" dirty="0">
                <a:latin typeface="Aptos (Body)"/>
              </a:rPr>
              <a:t>Point Estimates</a:t>
            </a:r>
          </a:p>
          <a:p>
            <a:pPr lvl="2"/>
            <a:r>
              <a:rPr lang="en-US" dirty="0">
                <a:latin typeface="Aptos (Body)"/>
              </a:rPr>
              <a:t>95% Confidence Intervals</a:t>
            </a:r>
          </a:p>
          <a:p>
            <a:pPr lvl="2"/>
            <a:r>
              <a:rPr lang="en-US" dirty="0">
                <a:latin typeface="Aptos (Body)"/>
              </a:rPr>
              <a:t>P-vales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E8CB982-BE47-7C34-7F77-959F987A90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8417" y="1825625"/>
                <a:ext cx="524856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Bayesian Approach</a:t>
                </a:r>
              </a:p>
              <a:p>
                <a:pPr lvl="1"/>
                <a:r>
                  <a:rPr lang="en-US" dirty="0"/>
                  <a:t>Bayesian Multiple Linear Regression</a:t>
                </a:r>
              </a:p>
              <a:p>
                <a:pPr lvl="2"/>
                <a:r>
                  <a:rPr lang="en-US" dirty="0"/>
                  <a:t>Outcome: Year 2 – Baseline</a:t>
                </a:r>
              </a:p>
              <a:p>
                <a:pPr lvl="2"/>
                <a:r>
                  <a:rPr lang="en-US" dirty="0"/>
                  <a:t>Adjusted for baseline measurement and covariates</a:t>
                </a:r>
              </a:p>
              <a:p>
                <a:pPr lvl="2"/>
                <a:r>
                  <a:rPr lang="en-US" dirty="0"/>
                  <a:t>Non-informative Priors: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Model Summaries</a:t>
                </a:r>
                <a:endParaRPr lang="en-US" dirty="0">
                  <a:latin typeface="Aptos (Body)"/>
                </a:endParaRPr>
              </a:p>
              <a:p>
                <a:pPr lvl="2"/>
                <a:r>
                  <a:rPr lang="en-US" dirty="0">
                    <a:latin typeface="Aptos (Body)"/>
                  </a:rPr>
                  <a:t>Point Estimates</a:t>
                </a:r>
              </a:p>
              <a:p>
                <a:pPr lvl="2"/>
                <a:r>
                  <a:rPr lang="en-US" dirty="0">
                    <a:latin typeface="Aptos (Body)"/>
                  </a:rPr>
                  <a:t>95% Highest Density Intervals</a:t>
                </a:r>
              </a:p>
              <a:p>
                <a:pPr lvl="2"/>
                <a:r>
                  <a:rPr lang="en-US" dirty="0">
                    <a:latin typeface="Aptos (Body)"/>
                  </a:rPr>
                  <a:t>Posterior Probabilities</a:t>
                </a:r>
              </a:p>
              <a:p>
                <a:pPr lvl="2"/>
                <a:r>
                  <a:rPr lang="en-US" dirty="0">
                    <a:latin typeface="Aptos (Body)"/>
                  </a:rPr>
                  <a:t>LOO-IC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E8CB982-BE47-7C34-7F77-959F987A9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17" y="1825625"/>
                <a:ext cx="5248564" cy="4351338"/>
              </a:xfrm>
              <a:prstGeom prst="rect">
                <a:avLst/>
              </a:prstGeom>
              <a:blipFill>
                <a:blip r:embed="rId3"/>
                <a:stretch>
                  <a:fillRect l="-2091" t="-2381" r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09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8C344-0BF2-7B91-2CF5-EAB1FF5B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EB5A67-A856-4ED3-F854-071F7D7045EB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B4613-B155-D45F-EFD6-81D9483F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9AE82-B3AA-3356-7FFE-18C2BDCC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72" y="2505316"/>
            <a:ext cx="5229455" cy="3858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BD0CB5-7A9D-429E-07C1-9456F363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60" y="365125"/>
            <a:ext cx="6079883" cy="171098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DFB423-B137-995E-47DC-FCB1BA606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81073" cy="47321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CD4+ Counts</a:t>
            </a:r>
          </a:p>
          <a:p>
            <a:pPr lvl="1"/>
            <a:r>
              <a:rPr lang="en-US" dirty="0"/>
              <a:t>Hard drug users experienced a lower treatment response</a:t>
            </a:r>
          </a:p>
          <a:p>
            <a:pPr lvl="1"/>
            <a:r>
              <a:rPr lang="en-US" dirty="0"/>
              <a:t>Estimated difference: -148.99 cells/mm³; 95% HDI: [-206.12, -85.85]; PP: 0.999</a:t>
            </a:r>
          </a:p>
          <a:p>
            <a:r>
              <a:rPr lang="en-US" dirty="0"/>
              <a:t>PCS</a:t>
            </a:r>
          </a:p>
          <a:p>
            <a:pPr lvl="1"/>
            <a:r>
              <a:rPr lang="en-US" dirty="0"/>
              <a:t>Hard drug users had a lower treatment response</a:t>
            </a:r>
          </a:p>
          <a:p>
            <a:pPr lvl="1"/>
            <a:r>
              <a:rPr lang="en-US" dirty="0"/>
              <a:t>Estimated difference: -3.33 units; 95% HDI: [-5.99, -0.66]; PP: 0.834</a:t>
            </a:r>
          </a:p>
          <a:p>
            <a:r>
              <a:rPr lang="en-US" dirty="0"/>
              <a:t>MCS &amp; Viral Load</a:t>
            </a:r>
          </a:p>
          <a:p>
            <a:pPr lvl="1"/>
            <a:r>
              <a:rPr lang="en-US" dirty="0"/>
              <a:t>No significant differences in treatment response between hard drug users and non-hard drug users</a:t>
            </a:r>
          </a:p>
        </p:txBody>
      </p:sp>
    </p:spTree>
    <p:extLst>
      <p:ext uri="{BB962C8B-B14F-4D97-AF65-F5344CB8AC3E}">
        <p14:creationId xmlns:p14="http://schemas.microsoft.com/office/powerpoint/2010/main" val="268611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80C05-6BA6-34E7-9F2B-CDD33927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DBA4AB-ED8E-7727-0FB3-2F899BFB90A0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61302-F28B-3CD1-A3BD-17415750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CFF99-1BAD-C029-F3A0-D68B0F26B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8200" y="1603582"/>
                <a:ext cx="5378781" cy="47159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Adherence</a:t>
                </a:r>
              </a:p>
              <a:p>
                <a:pPr lvl="1"/>
                <a:r>
                  <a:rPr lang="en-US" dirty="0"/>
                  <a:t>No meaningful changes in hard drug use estimates after adjusting for adherence</a:t>
                </a:r>
              </a:p>
              <a:p>
                <a:pPr lvl="2"/>
                <a:r>
                  <a:rPr lang="en-US" sz="1800" dirty="0"/>
                  <a:t>7.2% change in PCS</a:t>
                </a:r>
              </a:p>
              <a:p>
                <a:pPr lvl="2"/>
                <a:r>
                  <a:rPr lang="en-US" sz="1800" dirty="0"/>
                  <a:t>3.5% change in CD4+ count</a:t>
                </a:r>
              </a:p>
              <a:p>
                <a:pPr lvl="2"/>
                <a:r>
                  <a:rPr lang="en-US" sz="1800" dirty="0"/>
                  <a:t>MCS and Log viral load stayed near 0</a:t>
                </a:r>
              </a:p>
              <a:p>
                <a:r>
                  <a:rPr lang="en-US" sz="2600" dirty="0"/>
                  <a:t>Bayesian vs. frequentist</a:t>
                </a:r>
              </a:p>
              <a:p>
                <a:pPr lvl="1"/>
                <a:r>
                  <a:rPr lang="en-US" sz="2200" dirty="0"/>
                  <a:t>Consistent results between frameworks</a:t>
                </a:r>
              </a:p>
              <a:p>
                <a:pPr lvl="1"/>
                <a:r>
                  <a:rPr lang="en-US" sz="2200" dirty="0"/>
                  <a:t>Slight difference in CD4+ count estimates</a:t>
                </a:r>
              </a:p>
              <a:p>
                <a:pPr lvl="2"/>
                <a:r>
                  <a:rPr lang="en-US" sz="1800" dirty="0"/>
                  <a:t>-148.99 (Bayes) vs. -163.88 (</a:t>
                </a:r>
                <a:r>
                  <a:rPr lang="en-US" sz="1800" dirty="0" err="1"/>
                  <a:t>freq</a:t>
                </a:r>
                <a:r>
                  <a:rPr lang="en-US" sz="1800" dirty="0"/>
                  <a:t>)</a:t>
                </a:r>
              </a:p>
              <a:p>
                <a:pPr lvl="2"/>
                <a:r>
                  <a:rPr lang="en-US" sz="1800" dirty="0"/>
                  <a:t>Shrinkage due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 prior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CFF99-1BAD-C029-F3A0-D68B0F26B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8200" y="1603582"/>
                <a:ext cx="5378781" cy="4715911"/>
              </a:xfrm>
              <a:blipFill>
                <a:blip r:embed="rId3"/>
                <a:stretch>
                  <a:fillRect l="-2039" t="-2842" r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1B5FB2F-3FCF-E9B0-A83B-893E1A408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101" y="2235919"/>
            <a:ext cx="5571320" cy="1421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827DEC-ABC7-C458-8054-75FF8569B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101" y="4202839"/>
            <a:ext cx="5571320" cy="147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7F70C-D5E9-E942-2654-54C1A4B9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223B2F-2F19-B9CB-0A6D-5B51E7EBB679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80E43-C6F5-C0BA-FD81-481CED88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Discussion &amp; Limitations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BD3A7-89A9-3E76-E581-B8712E3D1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Hard drug use did not affect HAART response in viral load or MCS</a:t>
                </a:r>
              </a:p>
              <a:p>
                <a:r>
                  <a:rPr lang="en-US" dirty="0"/>
                  <a:t>HAART less effective at improving physical quality of life for hard drug users</a:t>
                </a:r>
              </a:p>
              <a:p>
                <a:r>
                  <a:rPr lang="en-US" dirty="0"/>
                  <a:t>CD4+ Count treatment response severely diminished for hard drug users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No evidence of mediation or confounding by adherence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prior my be too informative for CD4+Counts</a:t>
                </a:r>
              </a:p>
              <a:p>
                <a:endParaRPr lang="en-US" dirty="0"/>
              </a:p>
              <a:p>
                <a:r>
                  <a:rPr lang="en-US" dirty="0"/>
                  <a:t>Limitations</a:t>
                </a:r>
              </a:p>
              <a:p>
                <a:pPr lvl="1"/>
                <a:r>
                  <a:rPr lang="en-US" dirty="0"/>
                  <a:t>Only 1 hard drug user with &lt;95% adherence</a:t>
                </a:r>
              </a:p>
              <a:p>
                <a:pPr lvl="1"/>
                <a:r>
                  <a:rPr lang="en-US" dirty="0"/>
                  <a:t>Higher missingness among hard drug users (MAR)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BD3A7-89A9-3E76-E581-B8712E3D1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  <a:blipFill>
                <a:blip r:embed="rId2"/>
                <a:stretch>
                  <a:fillRect l="-754" t="-252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21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417</Words>
  <Application>Microsoft Office PowerPoint</Application>
  <PresentationFormat>Widescreen</PresentationFormat>
  <Paragraphs>79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(Body)</vt:lpstr>
      <vt:lpstr>Aptos Display</vt:lpstr>
      <vt:lpstr>Arial</vt:lpstr>
      <vt:lpstr>Cambria Math</vt:lpstr>
      <vt:lpstr>Office Theme</vt:lpstr>
      <vt:lpstr>Impacts of Hard Drug Use on HAART Efficacy in HIV-Positive Men</vt:lpstr>
      <vt:lpstr>Research Questions</vt:lpstr>
      <vt:lpstr>Data Overview</vt:lpstr>
      <vt:lpstr>Analysis Methods</vt:lpstr>
      <vt:lpstr>Results</vt:lpstr>
      <vt:lpstr>Results </vt:lpstr>
      <vt:lpstr>Discussion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Nagel</dc:creator>
  <cp:lastModifiedBy>Joe Nagel</cp:lastModifiedBy>
  <cp:revision>1</cp:revision>
  <dcterms:created xsi:type="dcterms:W3CDTF">2026-02-04T05:32:39Z</dcterms:created>
  <dcterms:modified xsi:type="dcterms:W3CDTF">2026-03-02T16:09:13Z</dcterms:modified>
</cp:coreProperties>
</file>